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16000"/>
            <a:ext cx="713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4400">
                <a:solidFill>
                  <a:srgbClr val="000000"/>
                </a:solidFill>
                <a:latin typeface="Inter"/>
              </a:rPr>
              <a:t>The Dawn of a New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7137400" cy="5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800">
                <a:solidFill>
                  <a:srgbClr val="374151"/>
                </a:solidFill>
                <a:latin typeface="Inter"/>
              </a:rPr>
              <a:t>Artificial Intelligence (AI) is rapidly transforming our world, moving from science fiction to daily reality. From theoretical concepts in the **1950s** to practical applications today, its potential impact spans every sector. This presentation will explore current trends, emerging technologies, ethical considerations, and a vision for AI's future.</a:t>
            </a:r>
          </a:p>
        </p:txBody>
      </p:sp>
      <p:pic>
        <p:nvPicPr>
          <p:cNvPr id="4" name="Picture 3" descr="d408c638-abd9-4d8d-b362-d089b00e13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2032000"/>
            <a:ext cx="6096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4000">
                <a:solidFill>
                  <a:srgbClr val="000000"/>
                </a:solidFill>
                <a:latin typeface="Inter"/>
              </a:rPr>
              <a:t>AI Today: A Landscape of Innovation</a:t>
            </a:r>
          </a:p>
        </p:txBody>
      </p:sp>
      <p:pic>
        <p:nvPicPr>
          <p:cNvPr id="3" name="Picture 2" descr="1d7d28fa-7a69-4c5e-b708-a07be7e5c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794000"/>
            <a:ext cx="7620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29210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1800">
                <a:solidFill>
                  <a:srgbClr val="1F2937"/>
                </a:solidFill>
                <a:latin typeface="Inter"/>
              </a:rPr>
              <a:t>Machine Learning (ML)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556000"/>
            <a:ext cx="51054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400">
                <a:solidFill>
                  <a:srgbClr val="374151"/>
                </a:solidFill>
                <a:latin typeface="Inter"/>
              </a:rPr>
              <a:t>The foundation of modern AI, enabling systems to learn from data without explicit programming, driving breakthroughs.</a:t>
            </a:r>
          </a:p>
        </p:txBody>
      </p:sp>
      <p:pic>
        <p:nvPicPr>
          <p:cNvPr id="6" name="Picture 5" descr="4763228d-47c8-421c-a625-ded7b155bd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2794000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52000" y="29210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1800">
                <a:solidFill>
                  <a:srgbClr val="1F2937"/>
                </a:solidFill>
                <a:latin typeface="Inter"/>
              </a:rPr>
              <a:t>Natural Language Processing (NLP)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0" y="3556000"/>
            <a:ext cx="51054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400">
                <a:solidFill>
                  <a:srgbClr val="374151"/>
                </a:solidFill>
                <a:latin typeface="Inter"/>
              </a:rPr>
              <a:t>AI's ability to understand, interpret, and generate human language. Powers advanced chatbots and translation.</a:t>
            </a:r>
          </a:p>
        </p:txBody>
      </p:sp>
      <p:pic>
        <p:nvPicPr>
          <p:cNvPr id="9" name="Picture 8" descr="e5cb3d9a-d650-4693-b7b9-211c802a7d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5842000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59690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1800">
                <a:solidFill>
                  <a:srgbClr val="1F2937"/>
                </a:solidFill>
                <a:latin typeface="Inter"/>
              </a:rPr>
              <a:t>Computer Vision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6604000"/>
            <a:ext cx="51054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400">
                <a:solidFill>
                  <a:srgbClr val="374151"/>
                </a:solidFill>
                <a:latin typeface="Inter"/>
              </a:rPr>
              <a:t>Enabling machines to 'see' and interpret visual information. Critical for facial recognition and autonomous vehicles.</a:t>
            </a:r>
          </a:p>
        </p:txBody>
      </p:sp>
      <p:pic>
        <p:nvPicPr>
          <p:cNvPr id="12" name="Picture 11" descr="884b33a4-04b0-46cd-911d-6897ec43a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0" y="5842000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52000" y="5969000"/>
            <a:ext cx="51054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1800">
                <a:solidFill>
                  <a:srgbClr val="1F2937"/>
                </a:solidFill>
                <a:latin typeface="Inter"/>
              </a:rPr>
              <a:t>Generative AI Creativity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0" y="6604000"/>
            <a:ext cx="51054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400">
                <a:solidFill>
                  <a:srgbClr val="374151"/>
                </a:solidFill>
                <a:latin typeface="Inter"/>
              </a:rPr>
              <a:t>Creating new, original content like text, images, and code based on learned patterns from vast datasets.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4000">
                <a:solidFill>
                  <a:srgbClr val="000000"/>
                </a:solidFill>
                <a:latin typeface="Inter"/>
              </a:rPr>
              <a:t>Horizon of Possibilities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9050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600">
                <a:solidFill>
                  <a:srgbClr val="374151"/>
                </a:solidFill>
                <a:latin typeface="Inter"/>
              </a:rPr>
              <a:t>The future of AI promises transformative applications and the pursuit of more advanced intelligence across many sectors.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048000"/>
            <a:ext cx="43434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2000">
                <a:solidFill>
                  <a:srgbClr val="1F2937"/>
                </a:solidFill>
                <a:latin typeface="Inter"/>
              </a:rPr>
              <a:t>Artificial General Intelligence (AGI)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3810000"/>
            <a:ext cx="43434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400">
                <a:solidFill>
                  <a:srgbClr val="374151"/>
                </a:solidFill>
                <a:latin typeface="Inter"/>
              </a:rPr>
              <a:t>The long-term goal of creating AI with human-level cognitive abilities across a wide range of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0" y="3048000"/>
            <a:ext cx="43434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2000">
                <a:solidFill>
                  <a:srgbClr val="1F2937"/>
                </a:solidFill>
                <a:latin typeface="Inter"/>
              </a:rPr>
              <a:t>Explainable AI (XAI) for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0" y="3810000"/>
            <a:ext cx="43434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400">
                <a:solidFill>
                  <a:srgbClr val="374151"/>
                </a:solidFill>
                <a:latin typeface="Inter"/>
              </a:rPr>
              <a:t>Developing AI systems that can explain their decisions and reasoning in an understandable way, crucial for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0" y="3048000"/>
            <a:ext cx="43434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2000">
                <a:solidFill>
                  <a:srgbClr val="1F2937"/>
                </a:solidFill>
                <a:latin typeface="Inter"/>
              </a:rPr>
              <a:t>Ethical AI &amp; Governance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0" y="3810000"/>
            <a:ext cx="43434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400">
                <a:solidFill>
                  <a:srgbClr val="374151"/>
                </a:solidFill>
                <a:latin typeface="Inter"/>
              </a:rPr>
              <a:t>Designing AI systems that are fair, transparent, and accountable, with robust regulatory frameworks.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762000"/>
            <a:ext cx="142494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4000">
                <a:solidFill>
                  <a:srgbClr val="000000"/>
                </a:solidFill>
                <a:latin typeface="Inter"/>
              </a:rPr>
              <a:t>Navigating the Complexities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19050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600">
                <a:solidFill>
                  <a:srgbClr val="374151"/>
                </a:solidFill>
                <a:latin typeface="Inter"/>
              </a:rPr>
              <a:t>As AI advances, we must address critical challenges and ethical dilemmas to ensure responsible development and deployment.</a:t>
            </a:r>
          </a:p>
        </p:txBody>
      </p:sp>
      <p:pic>
        <p:nvPicPr>
          <p:cNvPr id="4" name="Picture 3" descr="6b413a04-38ee-4c10-b9a7-bca95ebb2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3302000"/>
            <a:ext cx="635000" cy="63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59000" y="3365500"/>
            <a:ext cx="5232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1600">
                <a:solidFill>
                  <a:srgbClr val="1F2937"/>
                </a:solidFill>
                <a:latin typeface="Inter"/>
              </a:rPr>
              <a:t>Bias &amp; Fairness Concerns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9000" y="3873500"/>
            <a:ext cx="5232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300">
                <a:solidFill>
                  <a:srgbClr val="374151"/>
                </a:solidFill>
                <a:latin typeface="Inter"/>
              </a:rPr>
              <a:t>AI systems can inherit and amplify biases from training data, leading to unfair or discriminatory outcomes.</a:t>
            </a:r>
          </a:p>
        </p:txBody>
      </p:sp>
      <p:pic>
        <p:nvPicPr>
          <p:cNvPr id="7" name="Picture 6" descr="5fea4e84-c2cc-4b33-89b1-4b2f6e496a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0" y="3302000"/>
            <a:ext cx="635000" cy="63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5000" y="3365500"/>
            <a:ext cx="5232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1600">
                <a:solidFill>
                  <a:srgbClr val="1F2937"/>
                </a:solidFill>
                <a:latin typeface="Inter"/>
              </a:rPr>
              <a:t>Job Displacement Realities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3873500"/>
            <a:ext cx="5232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300">
                <a:solidFill>
                  <a:srgbClr val="374151"/>
                </a:solidFill>
                <a:latin typeface="Inter"/>
              </a:rPr>
              <a:t>Automation driven by AI may lead to significant shifts in the job market, requiring new skills and social safety nets.</a:t>
            </a:r>
          </a:p>
        </p:txBody>
      </p:sp>
      <p:pic>
        <p:nvPicPr>
          <p:cNvPr id="10" name="Picture 9" descr="12506aca-23c9-41e7-acfa-7602a91934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0" y="6096000"/>
            <a:ext cx="635000" cy="635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59000" y="6159500"/>
            <a:ext cx="5232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1600">
                <a:solidFill>
                  <a:srgbClr val="1F2937"/>
                </a:solidFill>
                <a:latin typeface="Inter"/>
              </a:rPr>
              <a:t>Privacy &amp; Security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9000" y="6667500"/>
            <a:ext cx="5232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300">
                <a:solidFill>
                  <a:srgbClr val="374151"/>
                </a:solidFill>
                <a:latin typeface="Inter"/>
              </a:rPr>
              <a:t>Vast amounts of data processed by AI raise concerns about data privacy, surveillance, and cybersecurity.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1016000"/>
            <a:ext cx="7137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1" i="0" sz="4400">
                <a:solidFill>
                  <a:srgbClr val="000000"/>
                </a:solidFill>
                <a:latin typeface="Inter"/>
              </a:rPr>
              <a:t>Shaping Our Intelligent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2540000"/>
            <a:ext cx="7137400" cy="5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b="0" i="0" sz="1800">
                <a:solidFill>
                  <a:srgbClr val="374151"/>
                </a:solidFill>
                <a:latin typeface="Inter"/>
              </a:rPr>
              <a:t>AI has evolved into a pervasive force with immense potential to solve pressing problems, from disease to climate change. Success requires a multidisciplinary approach focusing on **responsible innovation**, **ethical guidelines**, and **inclusive development**. We must actively shape a future where AI serves human flourishing.</a:t>
            </a:r>
          </a:p>
        </p:txBody>
      </p:sp>
      <p:pic>
        <p:nvPicPr>
          <p:cNvPr id="4" name="Picture 3" descr="dd52a68e-aacc-4f3b-acab-648819c3a5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0" y="2032000"/>
            <a:ext cx="6096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